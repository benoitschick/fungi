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20"/>
  </p:notesMasterIdLst>
  <p:sldIdLst>
    <p:sldId id="256" r:id="rId2"/>
    <p:sldId id="284" r:id="rId3"/>
    <p:sldId id="285" r:id="rId4"/>
    <p:sldId id="286" r:id="rId5"/>
    <p:sldId id="292" r:id="rId6"/>
    <p:sldId id="293" r:id="rId7"/>
    <p:sldId id="289" r:id="rId8"/>
    <p:sldId id="269" r:id="rId9"/>
    <p:sldId id="271" r:id="rId10"/>
    <p:sldId id="272" r:id="rId11"/>
    <p:sldId id="296" r:id="rId12"/>
    <p:sldId id="295" r:id="rId13"/>
    <p:sldId id="294" r:id="rId14"/>
    <p:sldId id="300" r:id="rId15"/>
    <p:sldId id="299" r:id="rId16"/>
    <p:sldId id="301" r:id="rId17"/>
    <p:sldId id="297" r:id="rId18"/>
    <p:sldId id="298" r:id="rId19"/>
  </p:sldIdLst>
  <p:sldSz cx="12192000" cy="6858000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xime Charrière" initials="MC" lastIdx="2" clrIdx="0">
    <p:extLst>
      <p:ext uri="{19B8F6BF-5375-455C-9EA6-DF929625EA0E}">
        <p15:presenceInfo xmlns:p15="http://schemas.microsoft.com/office/powerpoint/2012/main" userId="159c6d5fda78fd9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9127"/>
    <a:srgbClr val="BAE1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5" autoAdjust="0"/>
    <p:restoredTop sz="74121" autoAdjust="0"/>
  </p:normalViewPr>
  <p:slideViewPr>
    <p:cSldViewPr snapToGrid="0">
      <p:cViewPr>
        <p:scale>
          <a:sx n="100" d="100"/>
          <a:sy n="100" d="100"/>
        </p:scale>
        <p:origin x="72" y="-8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6E748-59AD-4642-90D2-E0A7F2A2450B}" type="datetimeFigureOut">
              <a:rPr lang="fr-CH" smtClean="0"/>
              <a:t>22.01.2021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BDA78-21C5-46BA-BC27-B5636C746D3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75269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BDA78-21C5-46BA-BC27-B5636C746D32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32471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206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Chip </a:t>
            </a:r>
            <a:r>
              <a:rPr lang="fr-CH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BCM2835</a:t>
            </a:r>
            <a:r>
              <a:rPr lang="fr-CH" dirty="0" smtClean="0"/>
              <a:t> ha un </a:t>
            </a:r>
            <a:r>
              <a:rPr lang="fr-CH" dirty="0" err="1" smtClean="0"/>
              <a:t>problema</a:t>
            </a:r>
            <a:r>
              <a:rPr lang="fr-CH" dirty="0" smtClean="0"/>
              <a:t> hardware </a:t>
            </a:r>
            <a:r>
              <a:rPr lang="fr-CH" dirty="0" err="1" smtClean="0"/>
              <a:t>sulla</a:t>
            </a:r>
            <a:r>
              <a:rPr lang="fr-CH" baseline="0" dirty="0" smtClean="0"/>
              <a:t> SPI1, </a:t>
            </a:r>
            <a:r>
              <a:rPr lang="fr-CH" baseline="0" dirty="0" err="1" smtClean="0"/>
              <a:t>che</a:t>
            </a:r>
            <a:r>
              <a:rPr lang="fr-CH" baseline="0" dirty="0" smtClean="0"/>
              <a:t> non permette di </a:t>
            </a:r>
            <a:r>
              <a:rPr lang="fr-CH" baseline="0" dirty="0" err="1" smtClean="0"/>
              <a:t>impostare</a:t>
            </a:r>
            <a:r>
              <a:rPr lang="fr-CH" baseline="0" dirty="0" smtClean="0"/>
              <a:t> la </a:t>
            </a:r>
            <a:r>
              <a:rPr lang="fr-CH" baseline="0" dirty="0" err="1" smtClean="0"/>
              <a:t>Clock</a:t>
            </a:r>
            <a:r>
              <a:rPr lang="fr-CH" baseline="0" dirty="0" smtClean="0"/>
              <a:t> Phase (CPHA) a "1" e di </a:t>
            </a:r>
            <a:r>
              <a:rPr lang="fr-CH" baseline="0" dirty="0" err="1" smtClean="0"/>
              <a:t>conseguenza</a:t>
            </a:r>
            <a:r>
              <a:rPr lang="fr-CH" baseline="0" dirty="0" smtClean="0"/>
              <a:t> </a:t>
            </a:r>
            <a:r>
              <a:rPr lang="fr-CH" baseline="0" dirty="0" err="1" smtClean="0"/>
              <a:t>impedisce</a:t>
            </a:r>
            <a:r>
              <a:rPr lang="fr-CH" baseline="0" dirty="0" smtClean="0"/>
              <a:t> l’</a:t>
            </a:r>
            <a:r>
              <a:rPr lang="fr-CH" baseline="0" dirty="0" err="1" smtClean="0"/>
              <a:t>utilizzo</a:t>
            </a:r>
            <a:r>
              <a:rPr lang="fr-CH" baseline="0" dirty="0" smtClean="0"/>
              <a:t> </a:t>
            </a:r>
            <a:r>
              <a:rPr lang="fr-CH" baseline="0" dirty="0" err="1" smtClean="0"/>
              <a:t>della</a:t>
            </a:r>
            <a:r>
              <a:rPr lang="fr-CH" baseline="0" dirty="0" smtClean="0"/>
              <a:t> SPI MODE 3 </a:t>
            </a:r>
            <a:r>
              <a:rPr lang="fr-CH" baseline="0" dirty="0" err="1" smtClean="0"/>
              <a:t>che</a:t>
            </a:r>
            <a:r>
              <a:rPr lang="fr-CH" baseline="0" dirty="0" smtClean="0"/>
              <a:t> l’ADC </a:t>
            </a:r>
            <a:r>
              <a:rPr lang="fr-CH" baseline="0" dirty="0" err="1" smtClean="0"/>
              <a:t>necessita</a:t>
            </a:r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93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890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1VDC, </a:t>
            </a:r>
            <a:r>
              <a:rPr lang="fr-CH" dirty="0" err="1" smtClean="0"/>
              <a:t>misura</a:t>
            </a:r>
            <a:r>
              <a:rPr lang="fr-CH" dirty="0" smtClean="0"/>
              <a:t> a 3065 SPS </a:t>
            </a:r>
            <a:r>
              <a:rPr lang="fr-CH" dirty="0" err="1" smtClean="0"/>
              <a:t>effetivi</a:t>
            </a:r>
            <a:r>
              <a:rPr lang="fr-CH" dirty="0" smtClean="0"/>
              <a:t> (3200 </a:t>
            </a:r>
            <a:r>
              <a:rPr lang="fr-CH" dirty="0" err="1" smtClean="0"/>
              <a:t>voluti</a:t>
            </a:r>
            <a:r>
              <a:rPr lang="fr-CH" dirty="0" smtClean="0"/>
              <a:t>) per 10 </a:t>
            </a:r>
            <a:r>
              <a:rPr lang="fr-CH" dirty="0" err="1" smtClean="0"/>
              <a:t>minuti</a:t>
            </a:r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9644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dirty="0" smtClean="0"/>
              <a:t>1VDC, </a:t>
            </a:r>
            <a:r>
              <a:rPr lang="fr-CH" dirty="0" err="1" smtClean="0"/>
              <a:t>misura</a:t>
            </a:r>
            <a:r>
              <a:rPr lang="fr-CH" dirty="0" smtClean="0"/>
              <a:t> a 8650 SPS </a:t>
            </a:r>
            <a:r>
              <a:rPr lang="fr-CH" dirty="0" err="1" smtClean="0"/>
              <a:t>effetivi</a:t>
            </a:r>
            <a:r>
              <a:rPr lang="fr-CH" dirty="0" smtClean="0"/>
              <a:t> (19200 </a:t>
            </a:r>
            <a:r>
              <a:rPr lang="fr-CH" dirty="0" err="1" smtClean="0"/>
              <a:t>voluti</a:t>
            </a:r>
            <a:r>
              <a:rPr lang="fr-CH" dirty="0" smtClean="0"/>
              <a:t>) per 10 </a:t>
            </a:r>
            <a:r>
              <a:rPr lang="fr-CH" dirty="0" err="1" smtClean="0"/>
              <a:t>minuti</a:t>
            </a:r>
            <a:r>
              <a:rPr lang="fr-CH" dirty="0" smtClean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244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700 </a:t>
            </a:r>
            <a:r>
              <a:rPr 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mVpp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+ 0.7 V Offset @1Hz Sine wave measured @ 1212 SPS (1000 SPS volute)</a:t>
            </a:r>
          </a:p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7097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2047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273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734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395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925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1602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60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09971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smtClean="0"/>
              <a:t>Il </a:t>
            </a:r>
            <a:r>
              <a:rPr lang="fr-CH" dirty="0" err="1" smtClean="0"/>
              <a:t>condensatore</a:t>
            </a:r>
            <a:r>
              <a:rPr lang="fr-CH" dirty="0" smtClean="0"/>
              <a:t> </a:t>
            </a:r>
            <a:r>
              <a:rPr lang="fr-CH" dirty="0" err="1" smtClean="0"/>
              <a:t>elettrolitico</a:t>
            </a:r>
            <a:r>
              <a:rPr lang="fr-CH" dirty="0" smtClean="0"/>
              <a:t> ha </a:t>
            </a:r>
            <a:r>
              <a:rPr lang="fr-CH" dirty="0" err="1" smtClean="0"/>
              <a:t>sufficente</a:t>
            </a:r>
            <a:r>
              <a:rPr lang="fr-CH" dirty="0" smtClean="0"/>
              <a:t> </a:t>
            </a:r>
            <a:r>
              <a:rPr lang="fr-CH" dirty="0" err="1" smtClean="0"/>
              <a:t>spazio</a:t>
            </a:r>
            <a:r>
              <a:rPr lang="fr-CH" dirty="0" smtClean="0"/>
              <a:t> per </a:t>
            </a:r>
            <a:r>
              <a:rPr lang="fr-CH" dirty="0" err="1" smtClean="0"/>
              <a:t>essere</a:t>
            </a:r>
            <a:r>
              <a:rPr lang="fr-CH" dirty="0" smtClean="0"/>
              <a:t> </a:t>
            </a:r>
            <a:r>
              <a:rPr lang="fr-CH" dirty="0" err="1" smtClean="0"/>
              <a:t>montato</a:t>
            </a:r>
            <a:r>
              <a:rPr lang="fr-CH" dirty="0" smtClean="0"/>
              <a:t> a 90° </a:t>
            </a:r>
            <a:r>
              <a:rPr lang="fr-CH" dirty="0" err="1" smtClean="0"/>
              <a:t>nel</a:t>
            </a:r>
            <a:r>
              <a:rPr lang="fr-CH" dirty="0" smtClean="0"/>
              <a:t> </a:t>
            </a:r>
            <a:r>
              <a:rPr lang="fr-CH" dirty="0" err="1" smtClean="0"/>
              <a:t>caso</a:t>
            </a:r>
            <a:r>
              <a:rPr lang="fr-CH" dirty="0" smtClean="0"/>
              <a:t> in </a:t>
            </a:r>
            <a:r>
              <a:rPr lang="fr-CH" dirty="0" err="1" smtClean="0"/>
              <a:t>cui</a:t>
            </a:r>
            <a:r>
              <a:rPr lang="fr-CH" dirty="0" smtClean="0"/>
              <a:t> </a:t>
            </a:r>
            <a:r>
              <a:rPr lang="fr-CH" dirty="0" err="1" smtClean="0"/>
              <a:t>sia</a:t>
            </a:r>
            <a:r>
              <a:rPr lang="fr-CH" dirty="0" smtClean="0"/>
              <a:t> </a:t>
            </a:r>
            <a:r>
              <a:rPr lang="fr-CH" dirty="0" err="1" smtClean="0"/>
              <a:t>troppo</a:t>
            </a:r>
            <a:r>
              <a:rPr lang="fr-CH" dirty="0" smtClean="0"/>
              <a:t> grande. </a:t>
            </a:r>
            <a:r>
              <a:rPr lang="fr-CH" dirty="0" err="1" smtClean="0"/>
              <a:t>Inoltre</a:t>
            </a:r>
            <a:r>
              <a:rPr lang="fr-CH" dirty="0" smtClean="0"/>
              <a:t> </a:t>
            </a:r>
            <a:r>
              <a:rPr lang="fr-CH" dirty="0" err="1" smtClean="0"/>
              <a:t>questo</a:t>
            </a:r>
            <a:r>
              <a:rPr lang="fr-CH" baseline="0" dirty="0" smtClean="0"/>
              <a:t> </a:t>
            </a:r>
            <a:r>
              <a:rPr lang="fr-CH" baseline="0" dirty="0" err="1" smtClean="0"/>
              <a:t>rappresentato</a:t>
            </a:r>
            <a:r>
              <a:rPr lang="fr-CH" baseline="0" dirty="0" smtClean="0"/>
              <a:t> </a:t>
            </a:r>
            <a:r>
              <a:rPr lang="fr-CH" baseline="0" dirty="0" err="1" smtClean="0"/>
              <a:t>nel</a:t>
            </a:r>
            <a:r>
              <a:rPr lang="fr-CH" baseline="0" dirty="0" smtClean="0"/>
              <a:t> </a:t>
            </a:r>
            <a:r>
              <a:rPr lang="fr-CH" baseline="0" dirty="0" err="1" smtClean="0"/>
              <a:t>disegno</a:t>
            </a:r>
            <a:r>
              <a:rPr lang="fr-CH" baseline="0" dirty="0" smtClean="0"/>
              <a:t> 3D è </a:t>
            </a:r>
            <a:r>
              <a:rPr lang="fr-CH" baseline="0" dirty="0" err="1" smtClean="0"/>
              <a:t>quello</a:t>
            </a:r>
            <a:r>
              <a:rPr lang="fr-CH" baseline="0" dirty="0" smtClean="0"/>
              <a:t> </a:t>
            </a:r>
            <a:r>
              <a:rPr lang="fr-CH" baseline="0" dirty="0" err="1" smtClean="0"/>
              <a:t>che</a:t>
            </a:r>
            <a:r>
              <a:rPr lang="fr-CH" baseline="0" dirty="0" smtClean="0"/>
              <a:t> </a:t>
            </a:r>
            <a:r>
              <a:rPr lang="fr-CH" baseline="0" dirty="0" err="1" smtClean="0"/>
              <a:t>avevano</a:t>
            </a:r>
            <a:r>
              <a:rPr lang="fr-CH" baseline="0" dirty="0" smtClean="0"/>
              <a:t> a </a:t>
            </a:r>
            <a:r>
              <a:rPr lang="fr-CH" baseline="0" dirty="0" err="1" smtClean="0"/>
              <a:t>disposizione</a:t>
            </a:r>
            <a:r>
              <a:rPr lang="fr-CH" baseline="0" dirty="0" smtClean="0"/>
              <a:t> a </a:t>
            </a:r>
            <a:r>
              <a:rPr lang="fr-CH" baseline="0" dirty="0" err="1" smtClean="0"/>
              <a:t>scuola</a:t>
            </a:r>
            <a:r>
              <a:rPr lang="fr-CH" baseline="0" dirty="0" smtClean="0"/>
              <a:t>, ma ci sono </a:t>
            </a:r>
            <a:r>
              <a:rPr lang="fr-CH" baseline="0" dirty="0" err="1" smtClean="0"/>
              <a:t>altri</a:t>
            </a:r>
            <a:r>
              <a:rPr lang="fr-CH" baseline="0" dirty="0" smtClean="0"/>
              <a:t> </a:t>
            </a:r>
            <a:r>
              <a:rPr lang="fr-CH" baseline="0" dirty="0" err="1" smtClean="0"/>
              <a:t>modelli</a:t>
            </a:r>
            <a:r>
              <a:rPr lang="fr-CH" baseline="0" dirty="0" smtClean="0"/>
              <a:t> (con </a:t>
            </a:r>
            <a:r>
              <a:rPr lang="fr-CH" baseline="0" dirty="0" err="1" smtClean="0"/>
              <a:t>lo</a:t>
            </a:r>
            <a:r>
              <a:rPr lang="fr-CH" baseline="0" dirty="0" smtClean="0"/>
              <a:t> </a:t>
            </a:r>
            <a:r>
              <a:rPr lang="fr-CH" baseline="0" dirty="0" err="1" smtClean="0"/>
              <a:t>stesso</a:t>
            </a:r>
            <a:r>
              <a:rPr lang="fr-CH" baseline="0" dirty="0" smtClean="0"/>
              <a:t> </a:t>
            </a:r>
            <a:r>
              <a:rPr lang="fr-CH" baseline="0" dirty="0" err="1" smtClean="0"/>
              <a:t>footprint</a:t>
            </a:r>
            <a:r>
              <a:rPr lang="fr-CH" baseline="0" dirty="0" smtClean="0"/>
              <a:t>) piu </a:t>
            </a:r>
            <a:r>
              <a:rPr lang="fr-CH" baseline="0" dirty="0" err="1" smtClean="0"/>
              <a:t>piccoli</a:t>
            </a:r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6359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Wingdings" panose="05000000000000000000" pitchFamily="2" charset="2"/>
              <a:buChar char="§"/>
            </a:pPr>
            <a:r>
              <a:rPr lang="fr-CH" sz="1200" dirty="0"/>
              <a:t>ADC acquisition : 95% </a:t>
            </a:r>
            <a:r>
              <a:rPr lang="fr-CH" sz="1200" dirty="0" err="1"/>
              <a:t>perchè</a:t>
            </a:r>
            <a:r>
              <a:rPr lang="fr-CH" sz="1200" dirty="0"/>
              <a:t> per </a:t>
            </a:r>
            <a:r>
              <a:rPr lang="fr-CH" sz="1200" dirty="0" err="1"/>
              <a:t>ora</a:t>
            </a:r>
            <a:r>
              <a:rPr lang="fr-CH" sz="1200" dirty="0"/>
              <a:t> è stata </a:t>
            </a:r>
            <a:r>
              <a:rPr lang="fr-CH" sz="1200" dirty="0" err="1"/>
              <a:t>testata</a:t>
            </a:r>
            <a:r>
              <a:rPr lang="fr-CH" sz="1200" dirty="0"/>
              <a:t> </a:t>
            </a:r>
            <a:r>
              <a:rPr lang="fr-CH" sz="1200" dirty="0" err="1"/>
              <a:t>unicamente</a:t>
            </a:r>
            <a:r>
              <a:rPr lang="fr-CH" sz="1200" dirty="0"/>
              <a:t> </a:t>
            </a:r>
            <a:r>
              <a:rPr lang="fr-CH" sz="1200" dirty="0" err="1"/>
              <a:t>sulla</a:t>
            </a:r>
            <a:r>
              <a:rPr lang="fr-CH" sz="1200" dirty="0"/>
              <a:t> </a:t>
            </a:r>
            <a:r>
              <a:rPr lang="fr-CH" sz="1200" dirty="0" err="1"/>
              <a:t>devboard</a:t>
            </a:r>
            <a:r>
              <a:rPr lang="fr-CH" sz="1200" dirty="0"/>
              <a:t>, </a:t>
            </a:r>
            <a:r>
              <a:rPr lang="fr-CH" sz="1200" dirty="0" err="1"/>
              <a:t>dovrebbe</a:t>
            </a:r>
            <a:r>
              <a:rPr lang="fr-CH" sz="1200" dirty="0"/>
              <a:t> </a:t>
            </a:r>
            <a:r>
              <a:rPr lang="fr-CH" sz="1200" dirty="0" err="1"/>
              <a:t>funzionare</a:t>
            </a:r>
            <a:r>
              <a:rPr lang="fr-CH" sz="1200" dirty="0"/>
              <a:t> senza </a:t>
            </a:r>
            <a:r>
              <a:rPr lang="fr-CH" sz="1200" dirty="0" err="1"/>
              <a:t>problemi</a:t>
            </a:r>
            <a:r>
              <a:rPr lang="fr-CH" sz="1200" dirty="0"/>
              <a:t> pure </a:t>
            </a:r>
            <a:r>
              <a:rPr lang="fr-CH" sz="1200" dirty="0" err="1"/>
              <a:t>sulla</a:t>
            </a:r>
            <a:r>
              <a:rPr lang="fr-CH" sz="1200" dirty="0"/>
              <a:t> </a:t>
            </a:r>
            <a:r>
              <a:rPr lang="fr-CH" sz="1200" dirty="0" err="1"/>
              <a:t>nostra</a:t>
            </a:r>
            <a:r>
              <a:rPr lang="fr-CH" sz="1200" dirty="0"/>
              <a:t> carta, ma non si sa mai </a:t>
            </a:r>
            <a:r>
              <a:rPr lang="fr-CH" sz="1200" dirty="0" err="1"/>
              <a:t>cosa</a:t>
            </a:r>
            <a:r>
              <a:rPr lang="fr-CH" sz="1200" dirty="0"/>
              <a:t> </a:t>
            </a:r>
            <a:r>
              <a:rPr lang="fr-CH" sz="1200" dirty="0" err="1"/>
              <a:t>possa</a:t>
            </a:r>
            <a:r>
              <a:rPr lang="fr-CH" sz="1200" dirty="0"/>
              <a:t> </a:t>
            </a:r>
            <a:r>
              <a:rPr lang="fr-CH" sz="1200" dirty="0" err="1" smtClean="0"/>
              <a:t>capitare</a:t>
            </a:r>
            <a:r>
              <a:rPr lang="fr-CH" sz="1200" dirty="0" smtClean="0"/>
              <a:t> e se </a:t>
            </a:r>
            <a:r>
              <a:rPr lang="fr-CH" sz="1200" dirty="0" err="1" smtClean="0"/>
              <a:t>sara</a:t>
            </a:r>
            <a:r>
              <a:rPr lang="fr-CH" sz="1200" dirty="0" smtClean="0"/>
              <a:t> </a:t>
            </a:r>
            <a:r>
              <a:rPr lang="fr-CH" sz="1200" dirty="0" err="1" smtClean="0"/>
              <a:t>necessario</a:t>
            </a:r>
            <a:r>
              <a:rPr lang="fr-CH" sz="1200" dirty="0" smtClean="0"/>
              <a:t> </a:t>
            </a:r>
            <a:r>
              <a:rPr lang="fr-CH" sz="1200" dirty="0" err="1" smtClean="0"/>
              <a:t>lavorarci</a:t>
            </a:r>
            <a:r>
              <a:rPr lang="fr-CH" sz="1200" dirty="0" smtClean="0"/>
              <a:t> </a:t>
            </a:r>
            <a:r>
              <a:rPr lang="fr-CH" sz="1200" dirty="0" err="1" smtClean="0"/>
              <a:t>sopra</a:t>
            </a:r>
            <a:r>
              <a:rPr lang="fr-CH" sz="1200" dirty="0" smtClean="0"/>
              <a:t> </a:t>
            </a:r>
            <a:r>
              <a:rPr lang="fr-CH" sz="1200" dirty="0" err="1" smtClean="0"/>
              <a:t>nuovamente</a:t>
            </a:r>
            <a:endParaRPr lang="fr-CH" sz="1200" dirty="0"/>
          </a:p>
          <a:p>
            <a:pPr algn="l">
              <a:buFont typeface="Wingdings" panose="05000000000000000000" pitchFamily="2" charset="2"/>
              <a:buChar char="§"/>
            </a:pPr>
            <a:endParaRPr lang="fr-CH" sz="1200" dirty="0"/>
          </a:p>
          <a:p>
            <a:pPr algn="l">
              <a:buFont typeface="Wingdings" panose="05000000000000000000" pitchFamily="2" charset="2"/>
              <a:buChar char="§"/>
            </a:pPr>
            <a:r>
              <a:rPr lang="fr-CH" sz="1200" dirty="0"/>
              <a:t> PCB </a:t>
            </a:r>
            <a:r>
              <a:rPr lang="fr-CH" sz="1200" dirty="0" err="1"/>
              <a:t>realization</a:t>
            </a:r>
            <a:r>
              <a:rPr lang="fr-CH" sz="1200" dirty="0"/>
              <a:t>: </a:t>
            </a:r>
            <a:r>
              <a:rPr lang="fr-CH" sz="1200" dirty="0" err="1"/>
              <a:t>Layout</a:t>
            </a:r>
            <a:r>
              <a:rPr lang="fr-CH" sz="1200" dirty="0"/>
              <a:t> quasi </a:t>
            </a:r>
            <a:r>
              <a:rPr lang="fr-CH" sz="1200" dirty="0" err="1"/>
              <a:t>completato</a:t>
            </a:r>
            <a:r>
              <a:rPr lang="fr-CH" sz="1200" dirty="0"/>
              <a:t>, </a:t>
            </a:r>
            <a:r>
              <a:rPr lang="fr-CH" sz="1200" dirty="0" err="1"/>
              <a:t>poi</a:t>
            </a:r>
            <a:r>
              <a:rPr lang="fr-CH" sz="1200" dirty="0"/>
              <a:t> </a:t>
            </a:r>
            <a:r>
              <a:rPr lang="fr-CH" sz="1200" dirty="0" err="1"/>
              <a:t>manca</a:t>
            </a:r>
            <a:r>
              <a:rPr lang="fr-CH" sz="1200" dirty="0"/>
              <a:t> solo la </a:t>
            </a:r>
            <a:r>
              <a:rPr lang="fr-CH" sz="1200" dirty="0" err="1"/>
              <a:t>costruzione</a:t>
            </a:r>
            <a:r>
              <a:rPr lang="fr-CH" sz="1200" dirty="0"/>
              <a:t> </a:t>
            </a:r>
            <a:r>
              <a:rPr lang="fr-CH" sz="1200" dirty="0" err="1"/>
              <a:t>del</a:t>
            </a:r>
            <a:r>
              <a:rPr lang="fr-CH" sz="1200" dirty="0"/>
              <a:t> PCB (</a:t>
            </a:r>
            <a:r>
              <a:rPr lang="fr-CH" sz="1200" dirty="0" err="1"/>
              <a:t>approssimata</a:t>
            </a:r>
            <a:r>
              <a:rPr lang="fr-CH" sz="1200" dirty="0"/>
              <a:t> a 20-15% </a:t>
            </a:r>
            <a:r>
              <a:rPr lang="fr-CH" sz="1200" dirty="0" err="1"/>
              <a:t>del</a:t>
            </a:r>
            <a:r>
              <a:rPr lang="fr-CH" sz="1200" dirty="0"/>
              <a:t> </a:t>
            </a:r>
            <a:r>
              <a:rPr lang="fr-CH" sz="1200" dirty="0" err="1"/>
              <a:t>lavoro</a:t>
            </a:r>
            <a:r>
              <a:rPr lang="fr-CH" sz="1200" dirty="0"/>
              <a:t>)</a:t>
            </a:r>
          </a:p>
          <a:p>
            <a:pPr algn="l">
              <a:buFont typeface="Wingdings" panose="05000000000000000000" pitchFamily="2" charset="2"/>
              <a:buChar char="§"/>
            </a:pPr>
            <a:endParaRPr lang="fr-CH" sz="1200" dirty="0"/>
          </a:p>
          <a:p>
            <a:pPr algn="l">
              <a:buFont typeface="Wingdings" panose="05000000000000000000" pitchFamily="2" charset="2"/>
              <a:buChar char="§"/>
            </a:pPr>
            <a:r>
              <a:rPr lang="fr-CH" sz="1200" dirty="0"/>
              <a:t> </a:t>
            </a:r>
            <a:r>
              <a:rPr lang="fr-CH" sz="1200" dirty="0" err="1"/>
              <a:t>Rpi</a:t>
            </a:r>
            <a:r>
              <a:rPr lang="fr-CH" sz="1200" dirty="0"/>
              <a:t> ADC software: 95% </a:t>
            </a:r>
            <a:r>
              <a:rPr lang="fr-CH" sz="1200" dirty="0" err="1"/>
              <a:t>perchè</a:t>
            </a:r>
            <a:r>
              <a:rPr lang="fr-CH" sz="1200" dirty="0"/>
              <a:t> ci sono </a:t>
            </a:r>
            <a:r>
              <a:rPr lang="fr-CH" sz="1200" dirty="0" err="1"/>
              <a:t>ancora</a:t>
            </a:r>
            <a:r>
              <a:rPr lang="fr-CH" sz="1200" dirty="0"/>
              <a:t> </a:t>
            </a:r>
            <a:r>
              <a:rPr lang="fr-CH" sz="1200" dirty="0" err="1"/>
              <a:t>alcuni</a:t>
            </a:r>
            <a:r>
              <a:rPr lang="fr-CH" sz="1200" dirty="0"/>
              <a:t> </a:t>
            </a:r>
            <a:r>
              <a:rPr lang="fr-CH" sz="1200" dirty="0" err="1"/>
              <a:t>errori</a:t>
            </a:r>
            <a:r>
              <a:rPr lang="fr-CH" sz="1200" dirty="0"/>
              <a:t>, </a:t>
            </a:r>
            <a:r>
              <a:rPr lang="fr-CH" sz="1200" dirty="0" err="1"/>
              <a:t>principalmente</a:t>
            </a:r>
            <a:r>
              <a:rPr lang="fr-CH" sz="1200" dirty="0"/>
              <a:t> di </a:t>
            </a:r>
            <a:r>
              <a:rPr lang="fr-CH" sz="1200" dirty="0" err="1"/>
              <a:t>connessione</a:t>
            </a:r>
            <a:r>
              <a:rPr lang="fr-CH" sz="1200" dirty="0"/>
              <a:t> con la carta </a:t>
            </a:r>
            <a:r>
              <a:rPr lang="fr-CH" sz="1200" dirty="0" smtClean="0"/>
              <a:t>e </a:t>
            </a:r>
            <a:r>
              <a:rPr lang="fr-CH" sz="1200" dirty="0"/>
              <a:t>il GPS, </a:t>
            </a:r>
            <a:r>
              <a:rPr lang="fr-CH" sz="1200" dirty="0" err="1"/>
              <a:t>che</a:t>
            </a:r>
            <a:r>
              <a:rPr lang="fr-CH" sz="1200" dirty="0"/>
              <a:t> se non </a:t>
            </a:r>
            <a:r>
              <a:rPr lang="fr-CH" sz="1200" dirty="0" err="1"/>
              <a:t>riesce</a:t>
            </a:r>
            <a:r>
              <a:rPr lang="fr-CH" sz="1200" dirty="0"/>
              <a:t> a </a:t>
            </a:r>
            <a:r>
              <a:rPr lang="fr-CH" sz="1200" dirty="0" err="1"/>
              <a:t>connettersi</a:t>
            </a:r>
            <a:r>
              <a:rPr lang="fr-CH" sz="1200" dirty="0"/>
              <a:t> non </a:t>
            </a:r>
            <a:r>
              <a:rPr lang="fr-CH" sz="1200" dirty="0" err="1" smtClean="0"/>
              <a:t>riprova</a:t>
            </a:r>
            <a:r>
              <a:rPr lang="fr-CH" sz="1200" dirty="0" smtClean="0"/>
              <a:t> o continua, </a:t>
            </a:r>
            <a:r>
              <a:rPr lang="fr-CH" sz="1200" dirty="0"/>
              <a:t>ma </a:t>
            </a:r>
            <a:r>
              <a:rPr lang="fr-CH" sz="1200" dirty="0" err="1" smtClean="0"/>
              <a:t>blocca</a:t>
            </a:r>
            <a:r>
              <a:rPr lang="fr-CH" sz="1200" dirty="0" smtClean="0"/>
              <a:t> l’</a:t>
            </a:r>
            <a:r>
              <a:rPr lang="fr-CH" sz="1200" dirty="0" err="1" smtClean="0"/>
              <a:t>applicazione</a:t>
            </a:r>
            <a:endParaRPr lang="fr-CH" sz="1200" dirty="0"/>
          </a:p>
          <a:p>
            <a:pPr algn="l">
              <a:buFont typeface="Wingdings" panose="05000000000000000000" pitchFamily="2" charset="2"/>
              <a:buChar char="§"/>
            </a:pPr>
            <a:endParaRPr lang="fr-CH" sz="1200" dirty="0"/>
          </a:p>
          <a:p>
            <a:pPr algn="l">
              <a:buFont typeface="Wingdings" panose="05000000000000000000" pitchFamily="2" charset="2"/>
              <a:buChar char="§"/>
            </a:pPr>
            <a:r>
              <a:rPr lang="fr-CH" sz="1200" dirty="0"/>
              <a:t> </a:t>
            </a:r>
            <a:r>
              <a:rPr lang="fr-CH" sz="1200" dirty="0" err="1"/>
              <a:t>Rpi</a:t>
            </a:r>
            <a:r>
              <a:rPr lang="fr-CH" sz="1200" dirty="0"/>
              <a:t> GUI </a:t>
            </a:r>
            <a:r>
              <a:rPr lang="fr-CH" sz="1200" dirty="0" err="1"/>
              <a:t>protype</a:t>
            </a:r>
            <a:r>
              <a:rPr lang="fr-CH" sz="1200" dirty="0"/>
              <a:t>: GUI </a:t>
            </a:r>
            <a:r>
              <a:rPr lang="fr-CH" sz="1200" dirty="0" err="1"/>
              <a:t>funzionale</a:t>
            </a:r>
            <a:r>
              <a:rPr lang="fr-CH" sz="1200" dirty="0"/>
              <a:t>, </a:t>
            </a:r>
            <a:r>
              <a:rPr lang="fr-CH" sz="1200" dirty="0" err="1"/>
              <a:t>qualche</a:t>
            </a:r>
            <a:r>
              <a:rPr lang="fr-CH" sz="1200" dirty="0"/>
              <a:t> minor bug e non è stata </a:t>
            </a:r>
            <a:r>
              <a:rPr lang="fr-CH" sz="1200" dirty="0" err="1"/>
              <a:t>validata</a:t>
            </a:r>
            <a:r>
              <a:rPr lang="fr-CH" sz="1200" dirty="0"/>
              <a:t> da vivent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fr-CH" sz="1200" dirty="0"/>
              <a:t> PCB </a:t>
            </a:r>
            <a:r>
              <a:rPr lang="fr-CH" sz="1200" dirty="0" err="1"/>
              <a:t>Testing</a:t>
            </a:r>
            <a:r>
              <a:rPr lang="fr-CH" sz="1200" dirty="0"/>
              <a:t>: </a:t>
            </a:r>
            <a:r>
              <a:rPr lang="fr-CH" sz="1200" dirty="0" err="1"/>
              <a:t>Niente</a:t>
            </a:r>
            <a:r>
              <a:rPr lang="fr-CH" sz="1200" dirty="0"/>
              <a:t> PCB -&gt; </a:t>
            </a:r>
            <a:r>
              <a:rPr lang="fr-CH" sz="1200" dirty="0" err="1"/>
              <a:t>niente</a:t>
            </a:r>
            <a:r>
              <a:rPr lang="fr-CH" sz="1200" dirty="0"/>
              <a:t> test</a:t>
            </a:r>
          </a:p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94105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GB" sz="1200" dirty="0"/>
              <a:t>Fix small bugs in the </a:t>
            </a:r>
            <a:r>
              <a:rPr lang="en-GB" sz="1200" dirty="0" err="1"/>
              <a:t>Rpi</a:t>
            </a:r>
            <a:r>
              <a:rPr lang="en-GB" sz="1200" dirty="0"/>
              <a:t> ADC software (</a:t>
            </a:r>
            <a:r>
              <a:rPr lang="en-GB" sz="1200" dirty="0" err="1"/>
              <a:t>stessa</a:t>
            </a:r>
            <a:r>
              <a:rPr lang="en-GB" sz="1200" dirty="0"/>
              <a:t> </a:t>
            </a:r>
            <a:r>
              <a:rPr lang="en-GB" sz="1200" dirty="0" err="1"/>
              <a:t>cosa</a:t>
            </a:r>
            <a:r>
              <a:rPr lang="en-GB" sz="1200" dirty="0"/>
              <a:t> </a:t>
            </a:r>
            <a:r>
              <a:rPr lang="en-GB" sz="1200" dirty="0" err="1"/>
              <a:t>spiegata</a:t>
            </a:r>
            <a:r>
              <a:rPr lang="en-GB" sz="1200" dirty="0"/>
              <a:t> </a:t>
            </a:r>
            <a:r>
              <a:rPr lang="en-GB" sz="1200" dirty="0" err="1"/>
              <a:t>nella</a:t>
            </a:r>
            <a:r>
              <a:rPr lang="en-GB" sz="1200" dirty="0"/>
              <a:t> slide prima </a:t>
            </a:r>
            <a:r>
              <a:rPr lang="en-GB" sz="1200" dirty="0" err="1"/>
              <a:t>sul</a:t>
            </a:r>
            <a:r>
              <a:rPr lang="en-GB" sz="1200" dirty="0"/>
              <a:t> Software ADC)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200" dirty="0"/>
              <a:t>Construction of the PCB (</a:t>
            </a:r>
            <a:r>
              <a:rPr lang="en-GB" sz="1200" dirty="0" err="1"/>
              <a:t>penso</a:t>
            </a:r>
            <a:r>
              <a:rPr lang="en-GB" sz="1200" dirty="0"/>
              <a:t> sui 2-3 weeks) and testing (se </a:t>
            </a:r>
            <a:r>
              <a:rPr lang="en-GB" sz="1200" dirty="0" err="1"/>
              <a:t>tutto</a:t>
            </a:r>
            <a:r>
              <a:rPr lang="en-GB" sz="1200" dirty="0"/>
              <a:t> </a:t>
            </a:r>
            <a:r>
              <a:rPr lang="en-GB" sz="1200" dirty="0" err="1"/>
              <a:t>va</a:t>
            </a:r>
            <a:r>
              <a:rPr lang="en-GB" sz="1200" dirty="0"/>
              <a:t> come </a:t>
            </a:r>
            <a:r>
              <a:rPr lang="en-GB" sz="1200" dirty="0" err="1"/>
              <a:t>previsto</a:t>
            </a:r>
            <a:r>
              <a:rPr lang="en-GB" sz="1200" dirty="0"/>
              <a:t> 2-3 </a:t>
            </a:r>
            <a:r>
              <a:rPr lang="en-GB" sz="1200" dirty="0" err="1"/>
              <a:t>settimane</a:t>
            </a:r>
            <a:r>
              <a:rPr lang="en-GB" sz="1200" dirty="0"/>
              <a:t>, </a:t>
            </a:r>
            <a:r>
              <a:rPr lang="en-GB" sz="1200" dirty="0" err="1"/>
              <a:t>ovvero</a:t>
            </a:r>
            <a:r>
              <a:rPr lang="en-GB" sz="1200" dirty="0"/>
              <a:t> la nostra carta è </a:t>
            </a:r>
            <a:r>
              <a:rPr lang="en-GB" sz="1200" dirty="0" err="1"/>
              <a:t>unicamente</a:t>
            </a:r>
            <a:r>
              <a:rPr lang="en-GB" sz="1200" dirty="0"/>
              <a:t> plug and play e non </a:t>
            </a:r>
            <a:r>
              <a:rPr lang="en-GB" sz="1200" dirty="0" err="1"/>
              <a:t>necessita</a:t>
            </a:r>
            <a:r>
              <a:rPr lang="en-GB" sz="1200" dirty="0"/>
              <a:t> di </a:t>
            </a:r>
            <a:r>
              <a:rPr lang="en-GB" sz="1200" dirty="0" err="1"/>
              <a:t>modifiche</a:t>
            </a:r>
            <a:r>
              <a:rPr lang="en-GB" sz="1200" dirty="0"/>
              <a:t> software o </a:t>
            </a:r>
            <a:r>
              <a:rPr lang="en-GB" sz="1200" dirty="0" err="1"/>
              <a:t>qualsiasi</a:t>
            </a:r>
            <a:r>
              <a:rPr lang="en-GB" sz="1200" dirty="0"/>
              <a:t> </a:t>
            </a:r>
            <a:r>
              <a:rPr lang="en-GB" sz="1200" dirty="0" err="1"/>
              <a:t>altra</a:t>
            </a:r>
            <a:r>
              <a:rPr lang="en-GB" sz="1200" dirty="0"/>
              <a:t> </a:t>
            </a:r>
            <a:r>
              <a:rPr lang="en-GB" sz="1200" dirty="0" err="1"/>
              <a:t>cosa</a:t>
            </a:r>
            <a:r>
              <a:rPr lang="en-GB" sz="1200" dirty="0"/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200" dirty="0"/>
              <a:t>GUI finalisation (se la GUI </a:t>
            </a:r>
            <a:r>
              <a:rPr lang="en-GB" sz="1200" dirty="0" err="1"/>
              <a:t>attuale</a:t>
            </a:r>
            <a:r>
              <a:rPr lang="en-GB" sz="1200" dirty="0"/>
              <a:t> è </a:t>
            </a:r>
            <a:r>
              <a:rPr lang="en-GB" sz="1200" dirty="0" err="1"/>
              <a:t>validata</a:t>
            </a:r>
            <a:r>
              <a:rPr lang="en-GB" sz="1200" dirty="0"/>
              <a:t> </a:t>
            </a:r>
            <a:r>
              <a:rPr lang="en-GB" sz="1200" dirty="0" err="1"/>
              <a:t>allora</a:t>
            </a:r>
            <a:r>
              <a:rPr lang="en-GB" sz="1200" dirty="0"/>
              <a:t> </a:t>
            </a:r>
            <a:r>
              <a:rPr lang="en-GB" sz="1200" dirty="0" err="1"/>
              <a:t>direi</a:t>
            </a:r>
            <a:r>
              <a:rPr lang="en-GB" sz="1200" dirty="0"/>
              <a:t> 1-2 </a:t>
            </a:r>
            <a:r>
              <a:rPr lang="en-GB" sz="1200" dirty="0" err="1"/>
              <a:t>settimane</a:t>
            </a:r>
            <a:r>
              <a:rPr lang="en-GB" sz="1200" dirty="0"/>
              <a:t>, se non è </a:t>
            </a:r>
            <a:r>
              <a:rPr lang="en-GB" sz="1200" dirty="0" err="1"/>
              <a:t>validata</a:t>
            </a:r>
            <a:r>
              <a:rPr lang="en-GB" sz="1200"/>
              <a:t> di piu)</a:t>
            </a:r>
            <a:endParaRPr lang="en-GB" sz="1200" dirty="0"/>
          </a:p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5BDA78-21C5-46BA-BC27-B5636C746D32}" type="slidenum">
              <a:rPr kumimoji="0" lang="fr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245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T-WireCom</a:t>
            </a:r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T-WireCom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D29D-BDFF-4E2C-BB3D-39F2D7499650}" type="slidenum">
              <a:rPr lang="fr-CH" smtClean="0"/>
              <a:t>‹N°›</a:t>
            </a:fld>
            <a:endParaRPr lang="fr-CH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246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T-WireCom</a:t>
            </a:r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T-WireCom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D29D-BDFF-4E2C-BB3D-39F2D749965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28285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T-WireCom</a:t>
            </a:r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T-WireCom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D29D-BDFF-4E2C-BB3D-39F2D7499650}" type="slidenum">
              <a:rPr lang="fr-CH" smtClean="0"/>
              <a:t>‹N°›</a:t>
            </a:fld>
            <a:endParaRPr lang="fr-CH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20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T-WireCom</a:t>
            </a:r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T-WireCom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D29D-BDFF-4E2C-BB3D-39F2D749965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83409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T-WireCom</a:t>
            </a:r>
            <a:endParaRPr lang="fr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T-WireCom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D29D-BDFF-4E2C-BB3D-39F2D749965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26447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T-WireCom</a:t>
            </a:r>
            <a:endParaRPr lang="fr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T-WireCom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D29D-BDFF-4E2C-BB3D-39F2D749965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9745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T-WireCom</a:t>
            </a:r>
            <a:endParaRPr lang="fr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CH"/>
              <a:t>T-WireCom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D29D-BDFF-4E2C-BB3D-39F2D749965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43016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/>
              <a:t>T-WireCom</a:t>
            </a:r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CH"/>
              <a:t>T-WireCom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90D29D-BDFF-4E2C-BB3D-39F2D749965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81847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T-WireCom</a:t>
            </a:r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T-WireCom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D29D-BDFF-4E2C-BB3D-39F2D749965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82107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T-WireCom</a:t>
            </a:r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T-WireCom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D29D-BDFF-4E2C-BB3D-39F2D749965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39472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T-WireCom</a:t>
            </a:r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T-WireCom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D29D-BDFF-4E2C-BB3D-39F2D749965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0991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fr-FR"/>
              <a:t>T-WireCom</a:t>
            </a:r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CH"/>
              <a:t>T-WireCom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C90D29D-BDFF-4E2C-BB3D-39F2D7499650}" type="slidenum">
              <a:rPr lang="fr-CH" smtClean="0"/>
              <a:t>‹N°›</a:t>
            </a:fld>
            <a:endParaRPr lang="fr-CH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469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e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équipement électronique, circuit&#10;&#10;Description générée automatiquement">
            <a:extLst>
              <a:ext uri="{FF2B5EF4-FFF2-40B4-BE49-F238E27FC236}">
                <a16:creationId xmlns:a16="http://schemas.microsoft.com/office/drawing/2014/main" id="{0FE2CBE8-B15B-4921-BAFE-9ED9F5129B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9423" y="2513325"/>
            <a:ext cx="1652484" cy="165248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1BE9F9A-1D4D-4ED7-8B9B-2D8923A109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946" y="2846989"/>
            <a:ext cx="1132869" cy="113286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F89C687-4F31-442F-9BD0-FE95F60F1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730245"/>
            <a:ext cx="10058400" cy="3566160"/>
          </a:xfrm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2F62F57-00DA-4749-98B5-EEB4559DE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r>
              <a:rPr lang="en-GB" dirty="0" err="1"/>
              <a:t>Maxime</a:t>
            </a:r>
            <a:r>
              <a:rPr lang="en-GB" dirty="0"/>
              <a:t> </a:t>
            </a:r>
            <a:r>
              <a:rPr lang="en-GB" dirty="0" err="1"/>
              <a:t>Charrière</a:t>
            </a:r>
            <a:r>
              <a:rPr lang="en-GB" dirty="0"/>
              <a:t>, Andrea Enrile</a:t>
            </a:r>
          </a:p>
          <a:p>
            <a:r>
              <a:rPr lang="en-GB" dirty="0"/>
              <a:t>Hand-held DIAGNOSTIC prototype</a:t>
            </a:r>
          </a:p>
          <a:p>
            <a:r>
              <a:rPr lang="en-GB" dirty="0"/>
              <a:t>30.06.2020</a:t>
            </a:r>
          </a:p>
          <a:p>
            <a:endParaRPr lang="en-GB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CC374F-2083-4DC9-B73D-3EA00FA09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z="1800" dirty="0"/>
              <a:t>SIENA Project</a:t>
            </a:r>
            <a:endParaRPr lang="en-GB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ED12CD2-EFC2-471E-8793-F94FF83FB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0D29D-BDFF-4E2C-BB3D-39F2D7499650}" type="slidenum">
              <a:rPr lang="en-GB" sz="1800" smtClean="0"/>
              <a:t>1</a:t>
            </a:fld>
            <a:endParaRPr lang="en-GB" sz="1800" dirty="0"/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115F8552-90F9-4C8F-AFFC-99DB33F4BC6F}"/>
              </a:ext>
            </a:extLst>
          </p:cNvPr>
          <p:cNvSpPr txBox="1">
            <a:spLocks/>
          </p:cNvSpPr>
          <p:nvPr/>
        </p:nvSpPr>
        <p:spPr>
          <a:xfrm>
            <a:off x="1185071" y="2125913"/>
            <a:ext cx="3710017" cy="109194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6000" b="1" dirty="0"/>
              <a:t>SIENA Project</a:t>
            </a:r>
            <a:r>
              <a:rPr lang="en-GB" dirty="0"/>
              <a:t> </a:t>
            </a:r>
          </a:p>
        </p:txBody>
      </p:sp>
      <p:pic>
        <p:nvPicPr>
          <p:cNvPr id="7" name="Image 6" descr="Une image contenant dessin&#10;&#10;Description générée automatiquement">
            <a:extLst>
              <a:ext uri="{FF2B5EF4-FFF2-40B4-BE49-F238E27FC236}">
                <a16:creationId xmlns:a16="http://schemas.microsoft.com/office/drawing/2014/main" id="{134CA379-26E1-4BBB-B221-7B59CEB04BD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2F5A759-5025-4F1A-BC0C-8D20264ECA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pic>
        <p:nvPicPr>
          <p:cNvPr id="1026" name="Picture 2" descr="4. Can a plant grow without water?﻿ - Ms. Lohitsa's Science Classes!">
            <a:extLst>
              <a:ext uri="{FF2B5EF4-FFF2-40B4-BE49-F238E27FC236}">
                <a16:creationId xmlns:a16="http://schemas.microsoft.com/office/drawing/2014/main" id="{54FDAD0D-4473-4468-9F59-1F2682699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815" y="1259379"/>
            <a:ext cx="2121296" cy="211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ta Converter Circuits | Analog Circuits | Design Tools ...">
            <a:extLst>
              <a:ext uri="{FF2B5EF4-FFF2-40B4-BE49-F238E27FC236}">
                <a16:creationId xmlns:a16="http://schemas.microsoft.com/office/drawing/2014/main" id="{BCCED5AE-A0B4-4138-A0A5-7F943EC12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544" y="525761"/>
            <a:ext cx="1865324" cy="1865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8A4385F-3235-493A-AC0F-F7AA419DBD5A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160" y="1160908"/>
            <a:ext cx="1551346" cy="110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606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3 – Project Changes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en-GB" sz="18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54F16D9C-6CED-402A-957D-6BBC709FD031}"/>
              </a:ext>
            </a:extLst>
          </p:cNvPr>
          <p:cNvSpPr txBox="1">
            <a:spLocks/>
          </p:cNvSpPr>
          <p:nvPr/>
        </p:nvSpPr>
        <p:spPr>
          <a:xfrm>
            <a:off x="1097280" y="2127310"/>
            <a:ext cx="10058400" cy="383457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GB" dirty="0"/>
              <a:t> From Version 2 to Version 3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800" dirty="0"/>
              <a:t> Change of the </a:t>
            </a:r>
            <a:r>
              <a:rPr lang="en-GB" sz="2800" b="1" dirty="0"/>
              <a:t>ADC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2600" dirty="0"/>
              <a:t> From </a:t>
            </a:r>
            <a:r>
              <a:rPr lang="en-GB" sz="2600" b="1" dirty="0"/>
              <a:t>AD7770</a:t>
            </a:r>
            <a:r>
              <a:rPr lang="en-GB" sz="2600" dirty="0"/>
              <a:t> to </a:t>
            </a:r>
            <a:r>
              <a:rPr lang="en-GB" sz="2600" b="1" dirty="0"/>
              <a:t>AD7124-4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3000" dirty="0"/>
              <a:t> Change from </a:t>
            </a:r>
            <a:r>
              <a:rPr lang="en-GB" sz="3000" b="1" dirty="0"/>
              <a:t>8</a:t>
            </a:r>
            <a:r>
              <a:rPr lang="en-GB" sz="3000" dirty="0"/>
              <a:t> input channels to </a:t>
            </a:r>
            <a:r>
              <a:rPr lang="en-GB" sz="3000" b="1" dirty="0"/>
              <a:t>2</a:t>
            </a:r>
            <a:r>
              <a:rPr lang="en-GB" sz="3000" dirty="0"/>
              <a:t> input channels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3000" dirty="0"/>
              <a:t> Software changes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2800" dirty="0"/>
              <a:t> SPI communication method</a:t>
            </a: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GB" sz="2400" dirty="0"/>
              <a:t> From </a:t>
            </a:r>
            <a:r>
              <a:rPr lang="en-GB" sz="2400" b="1" dirty="0"/>
              <a:t>bcm2835</a:t>
            </a:r>
            <a:r>
              <a:rPr lang="en-GB" sz="2400" dirty="0"/>
              <a:t> library to </a:t>
            </a:r>
            <a:r>
              <a:rPr lang="en-GB" sz="2400" b="1" dirty="0" err="1"/>
              <a:t>spidev</a:t>
            </a:r>
            <a:endParaRPr lang="en-GB" sz="2400" b="1" dirty="0"/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en-GB" sz="2000" b="1" dirty="0"/>
              <a:t>Change in a userspace – Kernel interaction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3747244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3 – Software changes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en-GB" sz="18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54F16D9C-6CED-402A-957D-6BBC709FD031}"/>
              </a:ext>
            </a:extLst>
          </p:cNvPr>
          <p:cNvSpPr txBox="1">
            <a:spLocks/>
          </p:cNvSpPr>
          <p:nvPr/>
        </p:nvSpPr>
        <p:spPr>
          <a:xfrm>
            <a:off x="1097280" y="2127310"/>
            <a:ext cx="10058400" cy="383457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GB" sz="2800" dirty="0"/>
              <a:t> Switch from the </a:t>
            </a:r>
            <a:r>
              <a:rPr lang="en-GB" sz="2800" b="1" dirty="0"/>
              <a:t>bcm2835 library </a:t>
            </a:r>
            <a:r>
              <a:rPr lang="en-GB" sz="2800" dirty="0"/>
              <a:t>to a </a:t>
            </a:r>
            <a:r>
              <a:rPr lang="en-GB" sz="2800" b="1" dirty="0"/>
              <a:t>userspace-kernel interface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800" dirty="0"/>
              <a:t> Why this change?</a:t>
            </a:r>
          </a:p>
          <a:p>
            <a:pPr marL="715518" lvl="1" indent="-514350" algn="just">
              <a:buFont typeface="+mj-lt"/>
              <a:buAutoNum type="arabicPeriod"/>
            </a:pPr>
            <a:r>
              <a:rPr lang="en-GB" sz="2600" dirty="0"/>
              <a:t> More </a:t>
            </a:r>
            <a:r>
              <a:rPr lang="en-GB" sz="2600" u="sng" dirty="0"/>
              <a:t>flexibility</a:t>
            </a:r>
            <a:r>
              <a:rPr lang="en-GB" sz="2600" dirty="0"/>
              <a:t> in the code.</a:t>
            </a:r>
            <a:endParaRPr lang="en-GB" sz="2600" b="1" dirty="0"/>
          </a:p>
          <a:p>
            <a:pPr marL="715518" lvl="1" indent="-514350" algn="just">
              <a:buFont typeface="+mj-lt"/>
              <a:buAutoNum type="arabicPeriod"/>
            </a:pPr>
            <a:r>
              <a:rPr lang="en-GB" sz="2600" dirty="0"/>
              <a:t> </a:t>
            </a:r>
            <a:r>
              <a:rPr lang="en-GB" sz="2600" b="1" dirty="0"/>
              <a:t>SPI1</a:t>
            </a:r>
            <a:r>
              <a:rPr lang="en-GB" sz="2600" dirty="0"/>
              <a:t> can not use </a:t>
            </a:r>
            <a:r>
              <a:rPr lang="en-GB" sz="2600" b="1" dirty="0"/>
              <a:t>MODE 3 </a:t>
            </a:r>
            <a:r>
              <a:rPr lang="en-GB" sz="2600" dirty="0"/>
              <a:t>or </a:t>
            </a:r>
            <a:r>
              <a:rPr lang="en-GB" sz="2600" b="1" dirty="0"/>
              <a:t>1</a:t>
            </a:r>
            <a:r>
              <a:rPr lang="en-GB" sz="2600" dirty="0"/>
              <a:t> due to an Hardware problem</a:t>
            </a:r>
          </a:p>
          <a:p>
            <a:pPr lvl="6" algn="just">
              <a:buFont typeface="Wingdings" panose="05000000000000000000" pitchFamily="2" charset="2"/>
              <a:buChar char="§"/>
            </a:pPr>
            <a:r>
              <a:rPr lang="en-GB" sz="2200" dirty="0"/>
              <a:t> </a:t>
            </a:r>
            <a:r>
              <a:rPr lang="en-GB" sz="2200" b="1" dirty="0"/>
              <a:t>AD7124-4</a:t>
            </a:r>
            <a:r>
              <a:rPr lang="en-GB" sz="2200" dirty="0"/>
              <a:t> use </a:t>
            </a:r>
            <a:r>
              <a:rPr lang="en-GB" sz="2200" u="sng" dirty="0"/>
              <a:t>SPI MODE 3</a:t>
            </a:r>
          </a:p>
          <a:p>
            <a:pPr lvl="6" algn="just">
              <a:buFont typeface="Wingdings" panose="05000000000000000000" pitchFamily="2" charset="2"/>
              <a:buChar char="§"/>
            </a:pPr>
            <a:r>
              <a:rPr lang="en-GB" sz="2200" dirty="0"/>
              <a:t> </a:t>
            </a:r>
            <a:r>
              <a:rPr lang="en-GB" sz="2200" b="1" dirty="0"/>
              <a:t>SPI6</a:t>
            </a:r>
            <a:r>
              <a:rPr lang="en-GB" sz="2200" dirty="0"/>
              <a:t> use </a:t>
            </a:r>
            <a:r>
              <a:rPr lang="en-GB" sz="2200" b="1" dirty="0"/>
              <a:t>same pinout </a:t>
            </a:r>
            <a:r>
              <a:rPr lang="en-GB" sz="2200" dirty="0"/>
              <a:t>of </a:t>
            </a:r>
            <a:r>
              <a:rPr lang="en-GB" sz="2200" b="1" dirty="0"/>
              <a:t>SPI1</a:t>
            </a:r>
            <a:r>
              <a:rPr lang="en-GB" sz="2200" dirty="0"/>
              <a:t> but is </a:t>
            </a:r>
            <a:r>
              <a:rPr lang="en-GB" sz="2200" u="sng" dirty="0"/>
              <a:t>not available </a:t>
            </a:r>
            <a:r>
              <a:rPr lang="en-GB" sz="2200" dirty="0"/>
              <a:t>in the </a:t>
            </a:r>
            <a:r>
              <a:rPr lang="en-GB" sz="2200" b="1" dirty="0"/>
              <a:t>bcm2835 library</a:t>
            </a:r>
            <a:endParaRPr lang="en-GB" sz="2400" b="1" dirty="0"/>
          </a:p>
          <a:p>
            <a:pPr marL="715518" lvl="1" indent="-514350" algn="just">
              <a:buFont typeface="+mj-lt"/>
              <a:buAutoNum type="arabicPeriod"/>
            </a:pPr>
            <a:r>
              <a:rPr lang="en-GB" sz="2600" dirty="0"/>
              <a:t> bcm2835 library </a:t>
            </a:r>
            <a:r>
              <a:rPr lang="en-GB" sz="2600" b="1" dirty="0"/>
              <a:t>could have been the cause to the artefacts</a:t>
            </a:r>
          </a:p>
        </p:txBody>
      </p:sp>
    </p:spTree>
    <p:extLst>
      <p:ext uri="{BB962C8B-B14F-4D97-AF65-F5344CB8AC3E}">
        <p14:creationId xmlns:p14="http://schemas.microsoft.com/office/powerpoint/2010/main" val="3127930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3 – Userspace-Kernel interface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en-GB" sz="18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54F16D9C-6CED-402A-957D-6BBC709FD031}"/>
              </a:ext>
            </a:extLst>
          </p:cNvPr>
          <p:cNvSpPr txBox="1">
            <a:spLocks/>
          </p:cNvSpPr>
          <p:nvPr/>
        </p:nvSpPr>
        <p:spPr>
          <a:xfrm>
            <a:off x="1097280" y="2127310"/>
            <a:ext cx="10058400" cy="383457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GB" sz="2600" b="1" dirty="0"/>
              <a:t> </a:t>
            </a:r>
            <a:r>
              <a:rPr lang="en-GB" sz="2600" dirty="0"/>
              <a:t>The code developed </a:t>
            </a:r>
            <a:r>
              <a:rPr lang="en-GB" sz="2600" b="1" dirty="0"/>
              <a:t>can work </a:t>
            </a:r>
            <a:r>
              <a:rPr lang="en-GB" sz="2600" u="sng" dirty="0"/>
              <a:t>on any </a:t>
            </a:r>
            <a:r>
              <a:rPr lang="en-GB" sz="2600" b="1" dirty="0"/>
              <a:t>SPI</a:t>
            </a:r>
            <a:r>
              <a:rPr lang="en-GB" sz="2600" dirty="0"/>
              <a:t> of the </a:t>
            </a:r>
            <a:r>
              <a:rPr lang="en-GB" sz="2600" dirty="0" err="1"/>
              <a:t>RPi</a:t>
            </a:r>
            <a:r>
              <a:rPr lang="en-GB" sz="2600" dirty="0"/>
              <a:t> </a:t>
            </a:r>
            <a:r>
              <a:rPr lang="en-GB" sz="2600" b="1" dirty="0"/>
              <a:t>if mode 3 is available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2400" dirty="0"/>
              <a:t> Easy to change SPI module, only a few code line to change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600" dirty="0"/>
              <a:t> With this method there are no more artefact in the measurements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2400" dirty="0"/>
              <a:t> Artefact introduced probably by the bcm2835 library</a:t>
            </a:r>
            <a:endParaRPr lang="en-GB" sz="2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2" r="8030"/>
          <a:stretch/>
        </p:blipFill>
        <p:spPr>
          <a:xfrm>
            <a:off x="1794510" y="3827764"/>
            <a:ext cx="3726180" cy="213412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452" y="3829064"/>
            <a:ext cx="4375024" cy="2132824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1913083" y="5961888"/>
            <a:ext cx="3489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Figure 1. 1VDC measured @ 3065 SPS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6769447" y="5962614"/>
            <a:ext cx="3489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Figure2. 1VDC measured @ 8650 SPS</a:t>
            </a:r>
          </a:p>
        </p:txBody>
      </p:sp>
    </p:spTree>
    <p:extLst>
      <p:ext uri="{BB962C8B-B14F-4D97-AF65-F5344CB8AC3E}">
        <p14:creationId xmlns:p14="http://schemas.microsoft.com/office/powerpoint/2010/main" val="4291886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3 – Measurement 1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en-GB" sz="18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4381962" y="6047196"/>
            <a:ext cx="3489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1VDC, 10 min measurement @ 3065 SPS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5626047-DE7D-4DC7-8E0E-C9C508F6E0B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4274" r="8500" b="2350"/>
          <a:stretch/>
        </p:blipFill>
        <p:spPr>
          <a:xfrm>
            <a:off x="2230105" y="1775460"/>
            <a:ext cx="7731790" cy="426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397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3 – Measurement 2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en-GB" sz="18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4170911" y="6070781"/>
            <a:ext cx="3911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1VDC, 10 min measurement @ 8650 SPS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29190D6-A1B6-468D-9540-75241A769BE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0" t="3846" r="8034" b="2778"/>
          <a:stretch/>
        </p:blipFill>
        <p:spPr>
          <a:xfrm>
            <a:off x="2235470" y="1781983"/>
            <a:ext cx="7782018" cy="424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373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3 – Measurement 3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en-GB" sz="18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3155748" y="6035766"/>
            <a:ext cx="5941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Figure2. 700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mVpp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+ 0.7 V Offset @1Hz Sine wave measured @ 1212 SPS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3" t="4808" r="7469" b="2500"/>
          <a:stretch/>
        </p:blipFill>
        <p:spPr>
          <a:xfrm>
            <a:off x="2246746" y="1809705"/>
            <a:ext cx="7759468" cy="422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97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3 - System overview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en-GB" sz="18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276B330A-A8B4-4526-8116-90179778F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881" y="1845734"/>
            <a:ext cx="6613197" cy="438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36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3 - Design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en-GB" sz="18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276B330A-A8B4-4526-8116-90179778F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F2639C1-D74E-4AE7-88CA-16FA04424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230" y="2785110"/>
            <a:ext cx="5524500" cy="26032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BB6FC16-5C11-4E4E-86CC-F4EA6156659B}"/>
              </a:ext>
            </a:extLst>
          </p:cNvPr>
          <p:cNvSpPr/>
          <p:nvPr/>
        </p:nvSpPr>
        <p:spPr>
          <a:xfrm>
            <a:off x="9824560" y="3913907"/>
            <a:ext cx="16940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« off-the-shelf »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46EC37-808F-434B-9D8E-6BF5733D0A4D}"/>
              </a:ext>
            </a:extLst>
          </p:cNvPr>
          <p:cNvSpPr/>
          <p:nvPr/>
        </p:nvSpPr>
        <p:spPr>
          <a:xfrm>
            <a:off x="680720" y="3772307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« homemade »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DEF3CAD5-5297-4187-9654-A51E7488A502}"/>
              </a:ext>
            </a:extLst>
          </p:cNvPr>
          <p:cNvCxnSpPr>
            <a:stCxn id="12" idx="3"/>
          </p:cNvCxnSpPr>
          <p:nvPr/>
        </p:nvCxnSpPr>
        <p:spPr>
          <a:xfrm flipV="1">
            <a:off x="2284044" y="3688081"/>
            <a:ext cx="987476" cy="268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67D6544-922B-4C43-8327-C60D4F5CDA3D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8991600" y="3429000"/>
            <a:ext cx="832960" cy="669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AF7BF566-3756-4852-BE3E-0F531FEDFDF0}"/>
              </a:ext>
            </a:extLst>
          </p:cNvPr>
          <p:cNvCxnSpPr>
            <a:stCxn id="5" idx="1"/>
          </p:cNvCxnSpPr>
          <p:nvPr/>
        </p:nvCxnSpPr>
        <p:spPr>
          <a:xfrm flipH="1">
            <a:off x="8981440" y="4098573"/>
            <a:ext cx="843120" cy="402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1582607A-CF10-472B-ADBD-B0EAC022EEB6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8991600" y="4098573"/>
            <a:ext cx="832960" cy="920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842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3 - Block Diagram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en-GB" sz="18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222" y="1780389"/>
            <a:ext cx="7488515" cy="45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20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3 – Electric Schema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en-GB" sz="18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263" y="1969171"/>
            <a:ext cx="6036264" cy="4203029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0930" y="2248491"/>
            <a:ext cx="3557270" cy="364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992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3 – Electric Schema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en-GB" sz="18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88" y="1799896"/>
            <a:ext cx="6334125" cy="4470353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4213" y="2507279"/>
            <a:ext cx="5300076" cy="305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919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3 – Electric Schema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en-GB" sz="18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839" y="1853266"/>
            <a:ext cx="2753077" cy="4197314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2831" y="1891366"/>
            <a:ext cx="2744469" cy="4193189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880" y="2531710"/>
            <a:ext cx="550545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62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3 – </a:t>
            </a:r>
            <a:r>
              <a:rPr lang="en-GB" dirty="0" smtClean="0"/>
              <a:t>PCB Layout</a:t>
            </a:r>
            <a:endParaRPr lang="en-GB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en-GB" sz="18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823" y="1784252"/>
            <a:ext cx="7089314" cy="452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4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3 – </a:t>
            </a:r>
            <a:r>
              <a:rPr lang="en-GB" dirty="0" smtClean="0"/>
              <a:t>PCB Layout</a:t>
            </a:r>
            <a:endParaRPr lang="en-GB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en-GB" sz="18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809" y="1772529"/>
            <a:ext cx="7007342" cy="452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329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3 – </a:t>
            </a:r>
            <a:r>
              <a:rPr lang="en-GB" dirty="0" smtClean="0"/>
              <a:t>PCB Layout</a:t>
            </a:r>
            <a:endParaRPr lang="en-GB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en-GB" sz="18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565" y="1795975"/>
            <a:ext cx="6987829" cy="449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44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Version 3 – State of </a:t>
            </a:r>
            <a:r>
              <a:rPr lang="fr-CH" dirty="0" err="1"/>
              <a:t>work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F16D9C-6CED-402A-957D-6BBC709FD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166" y="2116132"/>
            <a:ext cx="3188970" cy="3964880"/>
          </a:xfrm>
        </p:spPr>
        <p:txBody>
          <a:bodyPr>
            <a:normAutofit/>
          </a:bodyPr>
          <a:lstStyle/>
          <a:p>
            <a:pPr algn="r">
              <a:buFont typeface="Wingdings" panose="05000000000000000000" pitchFamily="2" charset="2"/>
              <a:buChar char="§"/>
            </a:pPr>
            <a:r>
              <a:rPr lang="fr-CH" sz="2800" dirty="0"/>
              <a:t> ADC acquisition : </a:t>
            </a:r>
          </a:p>
          <a:p>
            <a:pPr algn="r">
              <a:buFont typeface="Wingdings" panose="05000000000000000000" pitchFamily="2" charset="2"/>
              <a:buChar char="§"/>
            </a:pPr>
            <a:r>
              <a:rPr lang="fr-CH" sz="2800" dirty="0"/>
              <a:t> PCB </a:t>
            </a:r>
            <a:r>
              <a:rPr lang="fr-CH" sz="2800" dirty="0" err="1"/>
              <a:t>realization</a:t>
            </a:r>
            <a:r>
              <a:rPr lang="fr-CH" sz="2800" dirty="0"/>
              <a:t>:</a:t>
            </a:r>
          </a:p>
          <a:p>
            <a:pPr algn="r">
              <a:buFont typeface="Wingdings" panose="05000000000000000000" pitchFamily="2" charset="2"/>
              <a:buChar char="§"/>
            </a:pPr>
            <a:r>
              <a:rPr lang="fr-CH" sz="2800" dirty="0"/>
              <a:t> </a:t>
            </a:r>
            <a:r>
              <a:rPr lang="fr-CH" sz="2800" dirty="0" err="1"/>
              <a:t>Rpi</a:t>
            </a:r>
            <a:r>
              <a:rPr lang="fr-CH" sz="2800" dirty="0"/>
              <a:t> ADC software: </a:t>
            </a:r>
          </a:p>
          <a:p>
            <a:pPr algn="r">
              <a:buFont typeface="Wingdings" panose="05000000000000000000" pitchFamily="2" charset="2"/>
              <a:buChar char="§"/>
            </a:pPr>
            <a:r>
              <a:rPr lang="fr-CH" sz="2800" dirty="0"/>
              <a:t> </a:t>
            </a:r>
            <a:r>
              <a:rPr lang="fr-CH" sz="2800" dirty="0" err="1"/>
              <a:t>Rpi</a:t>
            </a:r>
            <a:r>
              <a:rPr lang="fr-CH" sz="2800" dirty="0"/>
              <a:t> GUI </a:t>
            </a:r>
            <a:r>
              <a:rPr lang="fr-CH" sz="2800" dirty="0" err="1"/>
              <a:t>protype</a:t>
            </a:r>
            <a:r>
              <a:rPr lang="fr-CH" sz="2800" dirty="0"/>
              <a:t>: </a:t>
            </a:r>
          </a:p>
          <a:p>
            <a:pPr algn="r">
              <a:buFont typeface="Wingdings" panose="05000000000000000000" pitchFamily="2" charset="2"/>
              <a:buChar char="§"/>
            </a:pPr>
            <a:r>
              <a:rPr lang="fr-CH" sz="2800" dirty="0"/>
              <a:t> PCB </a:t>
            </a:r>
            <a:r>
              <a:rPr lang="fr-CH" sz="2800" dirty="0" err="1"/>
              <a:t>Testing</a:t>
            </a:r>
            <a:r>
              <a:rPr lang="fr-CH" sz="2800" dirty="0"/>
              <a:t>:</a:t>
            </a:r>
          </a:p>
          <a:p>
            <a:pPr algn="r">
              <a:buFont typeface="Wingdings" panose="05000000000000000000" pitchFamily="2" charset="2"/>
              <a:buChar char="§"/>
            </a:pPr>
            <a:endParaRPr lang="fr-CH" sz="2800" dirty="0"/>
          </a:p>
          <a:p>
            <a:pPr marL="0" indent="0" algn="r">
              <a:buNone/>
            </a:pPr>
            <a:endParaRPr lang="fr-CH" sz="2800" dirty="0"/>
          </a:p>
          <a:p>
            <a:pPr algn="just">
              <a:buFont typeface="Wingdings" panose="05000000000000000000" pitchFamily="2" charset="2"/>
              <a:buChar char="§"/>
            </a:pPr>
            <a:endParaRPr lang="fr-CH" sz="280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  <a:endParaRPr kumimoji="0" lang="fr-C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fr-CH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CH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1D9FDD4-90F4-4FF2-BE44-980A5BFA9B50}"/>
              </a:ext>
            </a:extLst>
          </p:cNvPr>
          <p:cNvSpPr/>
          <p:nvPr/>
        </p:nvSpPr>
        <p:spPr>
          <a:xfrm>
            <a:off x="5530306" y="2249482"/>
            <a:ext cx="3188970" cy="2501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F0BDA2-2D78-4E3D-B229-3994D53F6503}"/>
              </a:ext>
            </a:extLst>
          </p:cNvPr>
          <p:cNvSpPr/>
          <p:nvPr/>
        </p:nvSpPr>
        <p:spPr>
          <a:xfrm>
            <a:off x="5534116" y="2803837"/>
            <a:ext cx="3188970" cy="2501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FA8105-364F-49CE-94E8-A5BDD539CA72}"/>
              </a:ext>
            </a:extLst>
          </p:cNvPr>
          <p:cNvSpPr/>
          <p:nvPr/>
        </p:nvSpPr>
        <p:spPr>
          <a:xfrm>
            <a:off x="5530306" y="3382382"/>
            <a:ext cx="3188970" cy="2501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EFDC21-BD43-4E0A-936C-2D28BFA4AFCF}"/>
              </a:ext>
            </a:extLst>
          </p:cNvPr>
          <p:cNvSpPr/>
          <p:nvPr/>
        </p:nvSpPr>
        <p:spPr>
          <a:xfrm>
            <a:off x="5534116" y="3929117"/>
            <a:ext cx="3188970" cy="2501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DE2967-3DAE-4CCD-ACFA-0573EF8F3DE9}"/>
              </a:ext>
            </a:extLst>
          </p:cNvPr>
          <p:cNvSpPr/>
          <p:nvPr/>
        </p:nvSpPr>
        <p:spPr>
          <a:xfrm>
            <a:off x="5534116" y="4497562"/>
            <a:ext cx="3188970" cy="2501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>
                <a:solidFill>
                  <a:sysClr val="windowText" lastClr="000000"/>
                </a:solidFill>
              </a:rPr>
              <a:t>0 %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3D653B-591B-4DA4-9DE3-581D855A872C}"/>
              </a:ext>
            </a:extLst>
          </p:cNvPr>
          <p:cNvSpPr/>
          <p:nvPr/>
        </p:nvSpPr>
        <p:spPr>
          <a:xfrm>
            <a:off x="5534116" y="2255862"/>
            <a:ext cx="3082290" cy="232320"/>
          </a:xfrm>
          <a:prstGeom prst="rect">
            <a:avLst/>
          </a:prstGeom>
          <a:solidFill>
            <a:srgbClr val="5F912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/>
              <a:t>95 %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0286FC-FDBD-4800-9890-6D5FF724AC96}"/>
              </a:ext>
            </a:extLst>
          </p:cNvPr>
          <p:cNvSpPr/>
          <p:nvPr/>
        </p:nvSpPr>
        <p:spPr>
          <a:xfrm>
            <a:off x="5534116" y="3391382"/>
            <a:ext cx="3082290" cy="232320"/>
          </a:xfrm>
          <a:prstGeom prst="rect">
            <a:avLst/>
          </a:prstGeom>
          <a:solidFill>
            <a:srgbClr val="5F912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/>
              <a:t>95 %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370DDB-3BBA-4DF2-A99A-24B77F4B2795}"/>
              </a:ext>
            </a:extLst>
          </p:cNvPr>
          <p:cNvSpPr/>
          <p:nvPr/>
        </p:nvSpPr>
        <p:spPr>
          <a:xfrm>
            <a:off x="5538879" y="2808311"/>
            <a:ext cx="2727960" cy="2412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/>
              <a:t>80 %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534887-33B8-4D19-8102-A6337EBD4137}"/>
              </a:ext>
            </a:extLst>
          </p:cNvPr>
          <p:cNvSpPr/>
          <p:nvPr/>
        </p:nvSpPr>
        <p:spPr>
          <a:xfrm>
            <a:off x="5536656" y="3935790"/>
            <a:ext cx="2889794" cy="232320"/>
          </a:xfrm>
          <a:prstGeom prst="rect">
            <a:avLst/>
          </a:prstGeom>
          <a:solidFill>
            <a:srgbClr val="5F912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/>
              <a:t>90 %</a:t>
            </a:r>
          </a:p>
        </p:txBody>
      </p:sp>
    </p:spTree>
    <p:extLst>
      <p:ext uri="{BB962C8B-B14F-4D97-AF65-F5344CB8AC3E}">
        <p14:creationId xmlns:p14="http://schemas.microsoft.com/office/powerpoint/2010/main" val="1971422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31CF5D-8237-4FD5-BF13-D5B3458A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3 – Next steps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F16D9C-6CED-402A-957D-6BBC709FD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27310"/>
            <a:ext cx="10058400" cy="383457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GB" sz="3000" dirty="0"/>
              <a:t>Fix small bugs in the </a:t>
            </a:r>
            <a:r>
              <a:rPr lang="en-GB" sz="3000" dirty="0" err="1"/>
              <a:t>Rpi</a:t>
            </a:r>
            <a:r>
              <a:rPr lang="en-GB" sz="3000" dirty="0"/>
              <a:t> ADC software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3000" dirty="0"/>
              <a:t>Construction of the PCB and testing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3000" dirty="0"/>
              <a:t>GUI finalisation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en-GB" sz="2800" dirty="0"/>
          </a:p>
          <a:p>
            <a:pPr lvl="1" algn="just">
              <a:buFont typeface="Wingdings" panose="05000000000000000000" pitchFamily="2" charset="2"/>
              <a:buChar char="§"/>
            </a:pPr>
            <a:endParaRPr lang="en-GB" sz="260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624A44-79CE-411D-BBFC-5A6121B1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SIENA Project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034AFB-CB26-40D9-9ED7-C0FC8E0B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90D29D-BDFF-4E2C-BB3D-39F2D7499650}" type="slidenum">
              <a:rPr kumimoji="0" lang="en-GB" sz="18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6862EFD-7820-4828-B17C-697026E046C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" y="108189"/>
            <a:ext cx="2134646" cy="805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8B7C69D-8A87-4275-B498-067E5CA5D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78" y="54792"/>
            <a:ext cx="1751233" cy="85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36880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778</Words>
  <Application>Microsoft Office PowerPoint</Application>
  <PresentationFormat>Grand écran</PresentationFormat>
  <Paragraphs>134</Paragraphs>
  <Slides>18</Slides>
  <Notes>18</Notes>
  <HiddenSlides>1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Calibri</vt:lpstr>
      <vt:lpstr>Calibri Light</vt:lpstr>
      <vt:lpstr>Wingdings</vt:lpstr>
      <vt:lpstr>Rétrospective</vt:lpstr>
      <vt:lpstr> </vt:lpstr>
      <vt:lpstr>Version 3 – Project Changes</vt:lpstr>
      <vt:lpstr>Version 3 – Software changes</vt:lpstr>
      <vt:lpstr>Version 3 – Userspace-Kernel interface</vt:lpstr>
      <vt:lpstr>Version 3 – Measurement 1</vt:lpstr>
      <vt:lpstr>Version 3 – Measurement 2</vt:lpstr>
      <vt:lpstr>Version 3 – Measurement 3</vt:lpstr>
      <vt:lpstr>Version 3 - System overview </vt:lpstr>
      <vt:lpstr>Version 3 - Design</vt:lpstr>
      <vt:lpstr>Version 3 - Block Diagram</vt:lpstr>
      <vt:lpstr>Version 3 – Electric Schema</vt:lpstr>
      <vt:lpstr>Version 3 – Electric Schema</vt:lpstr>
      <vt:lpstr>Version 3 – Electric Schema</vt:lpstr>
      <vt:lpstr>Version 3 – PCB Layout</vt:lpstr>
      <vt:lpstr>Version 3 – PCB Layout</vt:lpstr>
      <vt:lpstr>Version 3 – PCB Layout</vt:lpstr>
      <vt:lpstr>Version 3 – State of work</vt:lpstr>
      <vt:lpstr>Version 3 –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Maxime Charrière</dc:creator>
  <cp:lastModifiedBy>Enrile Andrea</cp:lastModifiedBy>
  <cp:revision>178</cp:revision>
  <cp:lastPrinted>2019-04-09T19:20:24Z</cp:lastPrinted>
  <dcterms:created xsi:type="dcterms:W3CDTF">2019-03-13T07:59:26Z</dcterms:created>
  <dcterms:modified xsi:type="dcterms:W3CDTF">2021-01-22T11:29:11Z</dcterms:modified>
</cp:coreProperties>
</file>